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  <p:sldId id="270" r:id="rId17"/>
    <p:sldId id="271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81"/>
    <p:restoredTop sz="94692"/>
  </p:normalViewPr>
  <p:slideViewPr>
    <p:cSldViewPr snapToGrid="0">
      <p:cViewPr>
        <p:scale>
          <a:sx n="54" d="100"/>
          <a:sy n="54" d="100"/>
        </p:scale>
        <p:origin x="552" y="1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82FA15-1650-224E-8760-8D92A68FBF0F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3550BF-6510-804B-9EB2-C7F0FBC02B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1854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3550BF-6510-804B-9EB2-C7F0FBC02B5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0592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3550BF-6510-804B-9EB2-C7F0FBC02B5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7825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3550BF-6510-804B-9EB2-C7F0FBC02B5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607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11/17/25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1A338-3A8D-8B05-496D-C74B7EA541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Emotion Classification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E9220A-1103-EBAE-131E-DA52C7A3BD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Teaching a Computer to read feelings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B8B800-A618-8756-460C-94F78E7F6AA8}"/>
              </a:ext>
            </a:extLst>
          </p:cNvPr>
          <p:cNvSpPr txBox="1"/>
          <p:nvPr/>
        </p:nvSpPr>
        <p:spPr>
          <a:xfrm>
            <a:off x="768928" y="5234049"/>
            <a:ext cx="45096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Name: Ravisankar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380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1523D-9B92-D348-C3FA-BF0EB6B7D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big Problem: Text has no tone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026F4-51CD-E0A7-BA61-61E2155DA9E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“I’m fine.” -&gt; (Angry)? (Sad)? (Happy)?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does this matter?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customers (customer support)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Mental Health (spotting crisis)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 moderation (finding harmful content)</a:t>
            </a:r>
          </a:p>
        </p:txBody>
      </p:sp>
    </p:spTree>
    <p:extLst>
      <p:ext uri="{BB962C8B-B14F-4D97-AF65-F5344CB8AC3E}">
        <p14:creationId xmlns:p14="http://schemas.microsoft.com/office/powerpoint/2010/main" val="5688844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EB880-CEFB-1995-6147-86A7CF237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6CF88-2BF6-DE75-332B-B1DF491DA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9EEE5-DF29-278E-FB05-EAC30EBA6F6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7470900" cy="3424107"/>
          </a:xfrm>
        </p:spPr>
        <p:txBody>
          <a:bodyPr/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build a program that can read a short message and classify it into one of six emotions. 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Data: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collection of over 400,000 text messages.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message was already labeled by a human with one of these feelings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Labels: Sadness, Joy, Love, Anger, Fear, and Surprise.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55BDC24-5700-75CD-5FFF-6F25546896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4674" y="3180004"/>
            <a:ext cx="3196945" cy="1798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769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CFE08-FB97-D82B-6039-BFF2D51A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70D6C-8E72-8079-04DF-EBDE2FC43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What’s in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1A3733-36CB-F1F9-168F-D6D52D4065C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Messages: 416,809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Duplicates Found: 686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 Data: None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Messages: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 0 (Sadness): “I </a:t>
            </a:r>
            <a:r>
              <a:rPr lang="en-US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dont</a:t>
            </a:r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know I feel so lost”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 1 (Joy): “</a:t>
            </a:r>
            <a:r>
              <a:rPr lang="en-US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ive</a:t>
            </a:r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enjoyed being able to slouch about relax”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 4</a:t>
            </a:r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itchFamily="2" charset="2"/>
              </a:rPr>
              <a:t> (Fear): ”I just feel really helpless and heavy hearted”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4669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5BDC64-CA27-E795-84DC-1442DA8FE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8FE65CB-EFD8-497D-A30A-093E20EAC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graph of emotions&#10;&#10;AI-generated content may be incorrect.">
            <a:extLst>
              <a:ext uri="{FF2B5EF4-FFF2-40B4-BE49-F238E27FC236}">
                <a16:creationId xmlns:a16="http://schemas.microsoft.com/office/drawing/2014/main" id="{D4969589-776D-10D8-1155-D929FF8D6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5" y="669667"/>
            <a:ext cx="6909479" cy="5527583"/>
          </a:xfrm>
          <a:prstGeom prst="roundRect">
            <a:avLst>
              <a:gd name="adj" fmla="val 2981"/>
            </a:avLst>
          </a:prstGeom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3265C2A-0A58-43AD-A406-8F4478E287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0A404B-C30B-C712-8BEC-84114FC24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408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A big problem</a:t>
            </a:r>
          </a:p>
        </p:txBody>
      </p:sp>
      <p:pic>
        <p:nvPicPr>
          <p:cNvPr id="6" name="Picture 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69EDD746-F827-404E-CF3A-8EA447943D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2900" y="2611307"/>
            <a:ext cx="2895600" cy="20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323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9E72EE-A01A-A787-2E84-F1C1599A6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48FE65CB-EFD8-497D-A30A-093E20EAC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diagram of a message&#10;&#10;AI-generated content may be incorrect.">
            <a:extLst>
              <a:ext uri="{FF2B5EF4-FFF2-40B4-BE49-F238E27FC236}">
                <a16:creationId xmlns:a16="http://schemas.microsoft.com/office/drawing/2014/main" id="{687AD1E5-6405-D064-07C1-747869BDC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643" y="773748"/>
            <a:ext cx="6299887" cy="51955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E374F5-52B2-4260-8B1C-54237931F0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7396F-62B1-BFAC-844B-DA0609A1B99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3740509" cy="3881309"/>
          </a:xfrm>
        </p:spPr>
        <p:txBody>
          <a:bodyPr>
            <a:normAutofit/>
          </a:bodyPr>
          <a:lstStyle/>
          <a:p>
            <a:r>
              <a:rPr lang="en-US" sz="18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messages are between 50 and 130 characters.</a:t>
            </a:r>
          </a:p>
          <a:p>
            <a:r>
              <a:rPr lang="en-US" sz="18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average is pretty similar for all emotions.</a:t>
            </a:r>
          </a:p>
          <a:p>
            <a:r>
              <a:rPr lang="en-US" sz="18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”Fear” and ”Sadness” seem to have really long messages.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F0F51F-751E-9438-6EBB-438D8FAB3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4" y="640831"/>
            <a:ext cx="3740515" cy="1573863"/>
          </a:xfrm>
        </p:spPr>
        <p:txBody>
          <a:bodyPr>
            <a:normAutofit/>
          </a:bodyPr>
          <a:lstStyle/>
          <a:p>
            <a:pPr algn="l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How long are the messages?</a:t>
            </a:r>
          </a:p>
        </p:txBody>
      </p:sp>
    </p:spTree>
    <p:extLst>
      <p:ext uri="{BB962C8B-B14F-4D97-AF65-F5344CB8AC3E}">
        <p14:creationId xmlns:p14="http://schemas.microsoft.com/office/powerpoint/2010/main" val="1829334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5EBCC-AC09-0B0F-FFF3-90159A146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59171-41E4-BF13-213C-7AEBE64EA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Cleaning Up the messy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2D25C-F823-6567-09EE-3900BE2A1D1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Computers are very literal. They don’t know that ”running”, “ran”, and “run” are basically the same word.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Cleaning Checklist: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 everything Lowercase (“Hello” -&gt; “hello”)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all punctuation (“lost!” -&gt; “lost”)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Stopwords (like ’the’, ’is’, ‘a’)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 the root of each word</a:t>
            </a:r>
          </a:p>
        </p:txBody>
      </p:sp>
    </p:spTree>
    <p:extLst>
      <p:ext uri="{BB962C8B-B14F-4D97-AF65-F5344CB8AC3E}">
        <p14:creationId xmlns:p14="http://schemas.microsoft.com/office/powerpoint/2010/main" val="33506301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1BC80-1F9B-9464-18BB-F720D143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01F03-A678-52FA-4F91-10995C911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‘not’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0A887A-7D96-77FF-DA1A-5A76ED7F732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1: “I am feeling happy” -&gt; (Joy)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2: “I am not feeling happy” -&gt; (Sadness/Anger)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‘stopword’ lists include words like ’not’, ‘no’, ‘never’.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Solution: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Took the standard stopword list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Removed all the negative words from the list.</a:t>
            </a:r>
          </a:p>
          <a:p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20830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79CC6-87CD-850C-07D7-433E9FF34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A81FD-1EDB-626C-7639-1615627A8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Finding the ‘Root’ 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8792-6874-3621-182E-304EAD04E16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want the model to know that ‘love’, ‘loving’, and ‘loved’ are all the same idea.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is called Lemmatization.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It’s like a smart dictionary lookup.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it needs help!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‘studying’ a verb or a noun?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a tool called Part-of-Speech (POS) Tagger to find out.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lemmatizer.lemmatize(word, pos=pos)</a:t>
            </a:r>
          </a:p>
          <a:p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64125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62D899-2F2A-B4C8-A5F9-7AE398D82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25496B42-CC46-4183-B481-887CD3E8C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758CE0-F916-4DCE-88D1-71430BE44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8EC41B9-2D25-48A6-BC40-DA8F79F3E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FE5DE5A-0379-D06C-9CF2-B1DD78F9243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5"/>
          <a:stretch>
            <a:fillRect/>
          </a:stretch>
        </p:blipFill>
        <p:spPr>
          <a:xfrm>
            <a:off x="960120" y="1736010"/>
            <a:ext cx="10318106" cy="1728282"/>
          </a:xfrm>
          <a:prstGeom prst="roundRect">
            <a:avLst>
              <a:gd name="adj" fmla="val 5301"/>
            </a:avLst>
          </a:prstGeom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8F21547-A433-450A-B2A3-930DCFABD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324"/>
          <a:stretch/>
        </p:blipFill>
        <p:spPr>
          <a:xfrm>
            <a:off x="0" y="0"/>
            <a:ext cx="349623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B8ABE2-F519-7F5F-1C06-6506C3F93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211" y="4562855"/>
            <a:ext cx="10916365" cy="113755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“Before” and “After”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73B520B-D7E7-436A-B263-0682940B4F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10" r="21258"/>
          <a:stretch/>
        </p:blipFill>
        <p:spPr>
          <a:xfrm>
            <a:off x="0" y="4238951"/>
            <a:ext cx="9600237" cy="261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855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5F49E-A7B6-02D3-BFF8-D267A403A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C200D-6164-5295-D477-D61BF81BE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Turning words into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38FB5-D885-3AED-F6F9-338E07A2B45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Computers don’t read words, they read numbers.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Idea: A “Smarter” Bag of Words (TF-IDF)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TF (Term Frequency): How often does a word appear in one message?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IDF (Inverse Domain Frequency): How often does the word appear in all messages?</a:t>
            </a:r>
          </a:p>
          <a:p>
            <a:pPr marL="457200" lvl="1" indent="0">
              <a:buNone/>
            </a:pPr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 Important, rare words get the highest scores.</a:t>
            </a:r>
          </a:p>
          <a:p>
            <a:pPr lvl="1"/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65284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BF5B7-D712-9C09-FDA3-4FA40B583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07211-FB19-DFC5-6A1E-C498D94BB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Turning words into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C65A4-5CC4-77C9-B9A1-2539C49EC88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Computers don’t read words, they read numbers.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Idea: A “Smarter” Bag of Words (TF-IDF)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TF (Term Frequency): How often does a word appear in one message?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IDF (Inverse Domain Frequency): How often does the word appear in all messages?</a:t>
            </a:r>
          </a:p>
          <a:p>
            <a:pPr marL="457200" lvl="1" indent="0">
              <a:buNone/>
            </a:pPr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 Important, rare words get the highest scores.</a:t>
            </a:r>
          </a:p>
          <a:p>
            <a:pPr lvl="1"/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34440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5C093-8975-94C2-85FF-13C403C7D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FA45D-14FB-F0FD-1684-F590D841F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Splitting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AA3A8B-9053-0110-252F-74B3810E3DB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Split: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Set (70%): The model learns from this (~291k messages).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 Set (15%): I use this to tune the model (~62k messages).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Set (15%): The model only sees this once at the very end (~62k messages).</a:t>
            </a:r>
          </a:p>
          <a:p>
            <a:pPr lvl="1"/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625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915184-46A5-653C-F34A-3F5521D72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E3254AE-C4CD-426D-A6E8-7FA13B0F8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830081E-26EE-874D-D8C5-157564FBA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34" y="2725595"/>
            <a:ext cx="4770219" cy="2707098"/>
          </a:xfrm>
          <a:prstGeom prst="roundRect">
            <a:avLst>
              <a:gd name="adj" fmla="val 5301"/>
            </a:avLst>
          </a:prstGeom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5C53434-A0C7-4A81-8EB0-D460DAD9B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C90723-70F7-031A-664C-F00E0B295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Attempt 1a: Naïve 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1BC02-6F81-F8EE-FD6C-C11409B03C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4860493" cy="3424107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Naïve Bayes (The Simple Baseline)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simple model that just looks at how often words (like “helpless”) appear with emotions (like “fear”). 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Accuracy: 76.0%</a:t>
            </a:r>
          </a:p>
          <a:p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6810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B60DD0-5BE3-0DB8-A4EF-01E33B01D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FCD1D0C-B13F-F929-90A5-23371F3D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EFF675D3-C57D-0650-458C-E58615AA6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34" y="2725595"/>
            <a:ext cx="4770219" cy="2707098"/>
          </a:xfrm>
          <a:prstGeom prst="roundRect">
            <a:avLst>
              <a:gd name="adj" fmla="val 5301"/>
            </a:avLst>
          </a:prstGeom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DA667F9-2787-6F8B-CA56-38B17620D9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9AC176-CD20-BF9E-F5F7-3295A2995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Attempt 1a: Naïve 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A4D154-5DD6-0294-D14E-026325FD57E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4860493" cy="3424107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Naïve Bayes (The Simple Baseline)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simple model that just looks at how often words (like “helpless”) appear with emotions (like “fear”). 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Accuracy: 76.0%</a:t>
            </a:r>
          </a:p>
          <a:p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75126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C4ED9-1637-C4C7-088D-4D727AD4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2CCFD-9A7A-BCC4-12AF-E775E293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Attempt 1B: 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98BCF-9CF9-D863-BB10-61AE9CDA6B9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(Smarter &amp; Balanced)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more robust model that’s great for this kind of problem.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a setting called class_weight=‘balanced’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Accuracy: 88.7%</a:t>
            </a:r>
          </a:p>
        </p:txBody>
      </p:sp>
    </p:spTree>
    <p:extLst>
      <p:ext uri="{BB962C8B-B14F-4D97-AF65-F5344CB8AC3E}">
        <p14:creationId xmlns:p14="http://schemas.microsoft.com/office/powerpoint/2010/main" val="14677641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0BBD7-C5B1-A1D9-0141-959CC0B55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2B64B-8F58-9FA7-4A13-5AF64971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Attempt 1c: support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65CB0-E08D-935A-A2BE-747BE06A025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Vector (The “Line Drawer”)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model is really good at finding the ‘line’ that best separates the different groups of emotions.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used class_weight=‘balanced’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Accuracy: 88.6%</a:t>
            </a:r>
          </a:p>
        </p:txBody>
      </p:sp>
    </p:spTree>
    <p:extLst>
      <p:ext uri="{BB962C8B-B14F-4D97-AF65-F5344CB8AC3E}">
        <p14:creationId xmlns:p14="http://schemas.microsoft.com/office/powerpoint/2010/main" val="28649768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44D80-0CF2-468D-591C-D8071A5A5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81F0B-FF70-5CF1-F4B7-84712D3D9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What’s missing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BC1A6-16BD-732C-27EB-3D41D15F4D6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TF-IDF is smart, but it has a big weakness: it completely ignores word order and context.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sees these two sentences as identical: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”I love that you are not sad.”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“I am sad that you are not in love.”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(It just counts ‘I’, ‘am’, ‘love’, ‘sad’, ‘not’, ‘that’, ‘you’, ‘are’)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get better, we need a model that can read the sentence word by word.</a:t>
            </a:r>
          </a:p>
          <a:p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59790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C28C7-53D2-B14C-65EF-50743C07A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39BA-151F-F0BA-22A2-830B895EA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new way of “reading”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8A9CB-03FD-7434-A568-81B05664457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Plan: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Word Embeddings: A smarter dictionary that knows “happy” is closer to “joyful” than it is to “angry”.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Recurrent Neural Networks (RNNs): A type of model that reads a sentence one word at a time, remembering what came before.</a:t>
            </a:r>
          </a:p>
        </p:txBody>
      </p:sp>
    </p:spTree>
    <p:extLst>
      <p:ext uri="{BB962C8B-B14F-4D97-AF65-F5344CB8AC3E}">
        <p14:creationId xmlns:p14="http://schemas.microsoft.com/office/powerpoint/2010/main" val="9220425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91B28-57B2-D2A3-710F-86EF53D87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B5E27-3E10-4981-09E4-DCD06A713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new Cleaning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682C2-725B-94C3-180D-752460A97E7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new models are so smart, they can learn from more data.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Old way (for ML): Removed punctuation, stopwords, and found root words.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way (for DL):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 everything lowercase.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punctuation.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keep the stopwords. We keep the original words (‘loving’ instead of ‘love’). We let the model figure it out.</a:t>
            </a:r>
          </a:p>
          <a:p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47858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1EABD-5A76-9545-A820-5CA207286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CC168-1164-B7CF-DDF0-D7882C9CE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Attempt 2a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AEA49-9E65-DC6F-A190-DC3E6A77B89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new models are so smart, they can learn from more data.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Old way (for ML): Removed punctuation, stopwords, and found root words.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way (for DL):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 everything lowercase.</a:t>
            </a:r>
          </a:p>
          <a:p>
            <a:pPr lvl="1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punctuation.</a:t>
            </a:r>
          </a:p>
          <a:p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keep the stopwords. We keep the original words (‘loving’ instead of ‘love’). We let the model figure it out.</a:t>
            </a:r>
          </a:p>
          <a:p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452546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Droplet</Template>
  <TotalTime>867</TotalTime>
  <Words>1093</Words>
  <Application>Microsoft Macintosh PowerPoint</Application>
  <PresentationFormat>Widescreen</PresentationFormat>
  <Paragraphs>114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Times New Roman</vt:lpstr>
      <vt:lpstr>Tw Cen MT</vt:lpstr>
      <vt:lpstr>Droplet</vt:lpstr>
      <vt:lpstr>Emotion Classification</vt:lpstr>
      <vt:lpstr>The big Problem: Text has no tone</vt:lpstr>
      <vt:lpstr>Goal</vt:lpstr>
      <vt:lpstr>What’s in the Data</vt:lpstr>
      <vt:lpstr>A big problem</vt:lpstr>
      <vt:lpstr>How long are the messages?</vt:lpstr>
      <vt:lpstr>Cleaning Up the messy Text</vt:lpstr>
      <vt:lpstr>The ‘not’ problem</vt:lpstr>
      <vt:lpstr>Finding the ‘Root’ word</vt:lpstr>
      <vt:lpstr>“Before” and “After”</vt:lpstr>
      <vt:lpstr>Turning words into numbers</vt:lpstr>
      <vt:lpstr>Turning words into numbers</vt:lpstr>
      <vt:lpstr>Splitting the data</vt:lpstr>
      <vt:lpstr>Attempt 1a: Naïve Bayes</vt:lpstr>
      <vt:lpstr>Attempt 1a: Naïve Bayes</vt:lpstr>
      <vt:lpstr>Attempt 1B: logistic regression</vt:lpstr>
      <vt:lpstr>Attempt 1c: support vector</vt:lpstr>
      <vt:lpstr>What’s missing</vt:lpstr>
      <vt:lpstr>A new way of “reading”</vt:lpstr>
      <vt:lpstr>A new Cleaning process</vt:lpstr>
      <vt:lpstr>Attempt 2a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Ravisankar Chengannagari [student]</dc:creator>
  <cp:lastModifiedBy>Ravisankar Chengannagari [student]</cp:lastModifiedBy>
  <cp:revision>3</cp:revision>
  <dcterms:created xsi:type="dcterms:W3CDTF">2025-11-18T01:54:38Z</dcterms:created>
  <dcterms:modified xsi:type="dcterms:W3CDTF">2025-11-18T16:22:22Z</dcterms:modified>
</cp:coreProperties>
</file>